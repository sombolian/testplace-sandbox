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From Coupa to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C26E"/>
                </a:solidFill>
                <a:latin typeface="Calibri"/>
              </a:rPr>
              <a:t>Modernizing Vendor Onboarding &amp; Procurement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Briefing for Procurement &amp; FP&amp;A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4F6FA"/>
                </a:solidFill>
                <a:latin typeface="Calibri"/>
              </a:rPr>
              <a:t>Prepared by: Procurement Transformation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we are deprecating Coupa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Coupa has served us, but it no longer fits how we buy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Where Coupa is holding us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Heavy, IT-dependent configuration — every workflow change is a project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Low employee adoption: requesters bypass the system, creating maverick spend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Fragmented intake — separate tools for legal, security, finance reviews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Manual vendor onboarding with limited automated risk checks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Limited visibility into request status for FP&amp;A and budget owners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Total cost of ownership (license + admin) growing faster than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5029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00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 we need instead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A single, intuitive front door for every purchase request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No-code workflows owned by Procurement, not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AI-powered vendor risk, compliance and data validation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Real-time spend visibility for FP&amp;A and budget owners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Native integrations with our ERP, contract and AP systems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Faster cycle times so the business stops working around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The AI-powered procurement orchestration platform</a:t>
            </a:r>
          </a:p>
        </p:txBody>
      </p:sp>
      <p:pic>
        <p:nvPicPr>
          <p:cNvPr id="6" name="Picture 5" descr="supplier_onboar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 Zip gives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Single intake portal — one place for any request, from any team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No-code workflow engine owned by Procurement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AI agents that pre-screen suppliers, contracts and risk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1.2M vendors managed and 6M approvals orchestrated on the platform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Native ERP, contract and AP integrations — no double entry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Trusted by Lyft, Snowflake, Reddit, Sephora, Canva and Northwestern Mutual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32120"/>
            <a:ext cx="2697480" cy="86868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Faster onboarding cycle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5532120"/>
            <a:ext cx="2697480" cy="86868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5577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9893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Supplier portal completion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532120"/>
            <a:ext cx="2697480" cy="86868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577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9893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Supplier risk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532120"/>
            <a:ext cx="2697480" cy="86868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5577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9893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Reduction in approval cycle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Coupa vs. Zip —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37744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457200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4630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Coupa (today)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75488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4630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Zip (target)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37744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0312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Intake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103120"/>
            <a:ext cx="457200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10312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55B6E"/>
                </a:solidFill>
                <a:latin typeface="Calibri"/>
              </a:rPr>
              <a:t>Multiple forms, email, Slack workarounds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103120"/>
            <a:ext cx="475488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2103120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8"/>
                </a:solidFill>
                <a:latin typeface="Calibri"/>
              </a:rPr>
              <a:t>Single AI-guided intake portal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74320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Workflow changes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74320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74320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55B6E"/>
                </a:solidFill>
                <a:latin typeface="Calibri"/>
              </a:rPr>
              <a:t>IT ticket, weeks of lead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743200"/>
            <a:ext cx="4754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2743200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8"/>
                </a:solidFill>
                <a:latin typeface="Calibri"/>
              </a:rPr>
              <a:t>No-code, owned by Procurement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237744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38328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Vendor onboarding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383280"/>
            <a:ext cx="457200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44368" y="338328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55B6E"/>
                </a:solidFill>
                <a:latin typeface="Calibri"/>
              </a:rPr>
              <a:t>Manual data collection &amp;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383280"/>
            <a:ext cx="475488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3383280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8"/>
                </a:solidFill>
                <a:latin typeface="Calibri"/>
              </a:rPr>
              <a:t>AI agents auto-collect &amp; validate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2336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02336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Risk &amp;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402336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44368" y="402336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55B6E"/>
                </a:solidFill>
                <a:latin typeface="Calibri"/>
              </a:rPr>
              <a:t>Bolt-on tools, manual reviews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4023360"/>
            <a:ext cx="4754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4023360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8"/>
                </a:solidFill>
                <a:latin typeface="Calibri"/>
              </a:rPr>
              <a:t>Built-in TIN, VAT, OFAC, D&amp;B, bank checks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63440"/>
            <a:ext cx="237744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66344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FP&amp;A visibility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663440"/>
            <a:ext cx="457200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4368" y="466344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55B6E"/>
                </a:solidFill>
                <a:latin typeface="Calibri"/>
              </a:rPr>
              <a:t>Lagging reports, limited drill-down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663440"/>
            <a:ext cx="475488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16368" y="4663440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8"/>
                </a:solidFill>
                <a:latin typeface="Calibri"/>
              </a:rPr>
              <a:t>Real-time spend insights &amp; dashboards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0352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30352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Adoption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530352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44368" y="530352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55B6E"/>
                </a:solidFill>
                <a:latin typeface="Calibri"/>
              </a:rPr>
              <a:t>Low — requesters bypass the tool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5303520"/>
            <a:ext cx="4754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6368" y="5303520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8"/>
                </a:solidFill>
                <a:latin typeface="Calibri"/>
              </a:rPr>
              <a:t>High — guided, self-service for everyone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Vendor onboarding in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One guided journey — from request to ERP-ready supplier</a:t>
            </a:r>
          </a:p>
        </p:txBody>
      </p:sp>
      <p:pic>
        <p:nvPicPr>
          <p:cNvPr id="6" name="Picture 5" descr="vendo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1431" y="4572000"/>
            <a:ext cx="2194560" cy="502920"/>
          </a:xfrm>
          <a:prstGeom prst="roundRect">
            <a:avLst/>
          </a:prstGeom>
          <a:solidFill>
            <a:srgbClr val="00C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1. Intake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999" y="4572000"/>
            <a:ext cx="219456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2. Risk &amp;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567" y="4572000"/>
            <a:ext cx="2194560" cy="502920"/>
          </a:xfrm>
          <a:prstGeom prst="roundRect">
            <a:avLst/>
          </a:prstGeom>
          <a:solidFill>
            <a:srgbClr val="00C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3. Cross-functional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7135" y="4572000"/>
            <a:ext cx="219456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4. Contract &amp;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5703" y="4572000"/>
            <a:ext cx="2194560" cy="502920"/>
          </a:xfrm>
          <a:prstGeom prst="roundRect">
            <a:avLst/>
          </a:prstGeom>
          <a:solidFill>
            <a:srgbClr val="00C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5. ERP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Each step is automated and tracked. Requesters get a single status view; Procurement, Legal, Security, IT and FP&amp;A reviewers are pulled in only when their input is needed. Suppliers complete every requirement through a single branded portal — no email back-and-forth.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1 — Intake: a single front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Requesters describe what they need; Zip figures out the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Guided, conversational intake form — no procurement jargon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AI suggests the right category, owner and reviewers automatically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Detects duplicate suppliers and existing contracts before a new request opens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Pulls budget owner and GL coding from the ERP at the point of request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Auto-routes to Procurement, Legal, Security, IT, Privacy and FP&amp;A in parallel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21828"/>
                </a:solidFill>
                <a:latin typeface="Calibri"/>
              </a:rPr>
              <a:t>•  Requester sees a single status timeline end-to-end</a:t>
            </a:r>
          </a:p>
        </p:txBody>
      </p:sp>
      <p:pic>
        <p:nvPicPr>
          <p:cNvPr id="7" name="Picture 6" descr="precheck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760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B6E"/>
                </a:solidFill>
                <a:latin typeface="Calibri"/>
              </a:rPr>
              <a:t>Zip Procurement Precheck Agent screening incoming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2 — Supplier data collection via the Zip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The vendor does the work, in one place, once</a:t>
            </a:r>
          </a:p>
        </p:txBody>
      </p:sp>
      <p:pic>
        <p:nvPicPr>
          <p:cNvPr id="6" name="Picture 5" descr="supplier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6692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760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B6E"/>
                </a:solidFill>
                <a:latin typeface="Calibri"/>
              </a:rPr>
              <a:t>Zip Supplier 360 — a unified vendor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 the supplier provides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Legal entity, tax IDs (W-9 / W-8), VAT, addresses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Banking details with automated bank verification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Diversity certifications and ESG attestations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Insurance certificates and SOC 2 / ISO documentation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DPA, MSA, NDA — pulled in for Legal review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Security questionnaires routed to the IT Security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3 — Automated risk &amp; compliance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AI agents run the checks we used to do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" y="1554480"/>
            <a:ext cx="365760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" y="1554480"/>
            <a:ext cx="3657600" cy="9144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Supplier 360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233172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Analyzes supplier documents, external data sources and news to surface risks before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554480"/>
            <a:ext cx="365760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554480"/>
            <a:ext cx="3657600" cy="9144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Procurement Precheck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33172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Reviews MSAs, DPAs, SOC 2 and other documents to flag legal and security risks early.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1554480"/>
            <a:ext cx="365760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3247" y="1554480"/>
            <a:ext cx="3657600" cy="9144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847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Adverse Media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233172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Scans public news and watchlists for any reputational or sanctions risk on the supplier.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Automated third-party checks at every onboarding: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" y="4709160"/>
            <a:ext cx="1828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TIN match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2235" y="4709160"/>
            <a:ext cx="1828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VAT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5043" y="4709160"/>
            <a:ext cx="1828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OFAC / sanctions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7851" y="4709160"/>
            <a:ext cx="1828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D&amp;B financial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0659" y="4709160"/>
            <a:ext cx="1828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Bank account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13467" y="4709160"/>
            <a:ext cx="1828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Watchlist &amp; adverse media</a:t>
            </a:r>
          </a:p>
        </p:txBody>
      </p:sp>
      <p:pic>
        <p:nvPicPr>
          <p:cNvPr id="25" name="Picture 24" descr="adverse_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577840"/>
            <a:ext cx="5760720" cy="10972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Steps 4 &amp; 5 — Reviews, contracts &amp; ERP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Parallel reviews, then a clean handoff to the systems of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7784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77840" cy="9144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Step 4 — Cross-functional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Procurement, Legal, Security, IT, Privacy, FP&amp;A reviews in parallel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Conditional steps — reviewers only see requests that need them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Built-in SLAs, reminders, escalations — no chasing in Slack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Audit trail captured automatically for SOX and internal audit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FP&amp;A sees committed spend before approval, not 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57784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55778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Step 5 — Contracts &amp; ERP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Contract drafted and signed in our CLM, mirrored to the vendor record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One-click supplier creation in the ERP — no rekeying, no duplicates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Banking and tax data pushed to AP, ready for first invoice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PO generated from the approved request, tied to the budget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Status visible to requester, FP&amp;A and Procurement in real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means for your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778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7784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Own and edit your own workflows — no IT ticket required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Automated risk checks free up time for strategic sourcing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Cleaner vendor master — one record, one source of truth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Stronger compliance posture with built-in audit trail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Better data to negotiate with — full spend &amp; supplier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5778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577840" cy="54864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2763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FP&amp;A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Real-time view of committed and pending spend by department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Budget checks at request time — no surprises at month-end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GL coding validated upstream, fewer journal entries to fix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Cleaner accruals — POs and invoices reconcile automatically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Self-serve dashboards for cost center owners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Migration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Phased rollout — minimal disruption to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28016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554480"/>
            <a:ext cx="992124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276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Discover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9659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Map current Coupa workflows, define future-state in Zip, identify integrations.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37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FF6B35"/>
                </a:solidFill>
                <a:latin typeface="Calibri"/>
              </a:rPr>
              <a:t>Weeks 1–4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128016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42032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2542032"/>
            <a:ext cx="992124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61518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Configure &amp; Integrate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95351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Build no-code workflows, connect ERP, CLM, SSO, AP and security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72491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FF6B35"/>
                </a:solidFill>
                <a:latin typeface="Calibri"/>
              </a:rPr>
              <a:t>Weeks 5–10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9584"/>
            <a:ext cx="128016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9584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3529584"/>
            <a:ext cx="992124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6027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941064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Pilot with one BU. Migrate active vendors, train requesters, refine workflows.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71246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FF6B35"/>
                </a:solidFill>
                <a:latin typeface="Calibri"/>
              </a:rPr>
              <a:t>Weeks 11–14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17136"/>
            <a:ext cx="128016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17136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4517136"/>
            <a:ext cx="992124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459028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Company-wide rollout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92861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Cut over remaining BUs, run Coupa in parallel for 30 days, then deprecate.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70001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FF6B35"/>
                </a:solidFill>
                <a:latin typeface="Calibri"/>
              </a:rPr>
              <a:t>Weeks 15–20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04688"/>
            <a:ext cx="128016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0468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5504688"/>
            <a:ext cx="992124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5577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Deprecate Coupa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91616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8"/>
                </a:solidFill>
                <a:latin typeface="Calibri"/>
              </a:rPr>
              <a:t>Read-only archive of Coupa data, terminate licenses, realize savings.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6875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FF6B35"/>
                </a:solidFill>
                <a:latin typeface="Calibri"/>
              </a:rPr>
              <a:t>Week 21+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Procurement &amp; FP&amp;A as design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Nominate workstream leads for sourcing, vendor mgmt and contracts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Validate the future-state intake form and approval matrix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Help clean the vendor master before migration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Lead requester training and change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FP&amp;A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Define the budget-check rules per cost center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Confirm GL mapping and accrual logic with Accounting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Review the new spend dashboards and KPIs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21828"/>
                </a:solidFill>
                <a:latin typeface="Calibri"/>
              </a:rPr>
              <a:t>•  Co-own quarterly business reviews on savings &amp; cycle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1. Approve the migration plan   ·   2. Confirm workstream leads    ·   3. Kick-off workshop in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B6E"/>
                </a:solidFill>
                <a:latin typeface="Calibri"/>
              </a:rPr>
              <a:t>Procurement Transformation  |  Coupa →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B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00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Faster. Smarter.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C26E"/>
                </a:solidFill>
                <a:latin typeface="Calibri"/>
              </a:rPr>
              <a:t>Modern procurement, built for Procurement and FP&amp;A.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4F6FA"/>
                </a:solidFill>
                <a:latin typeface="Calibri"/>
              </a:rPr>
              <a:t>Questions?  procurement-transformation@company.com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